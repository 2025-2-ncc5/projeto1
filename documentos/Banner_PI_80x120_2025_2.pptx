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0625" cx="288004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607">
          <p15:clr>
            <a:srgbClr val="A4A3A4"/>
          </p15:clr>
        </p15:guide>
        <p15:guide id="2" pos="9071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iSIZTz75wAQSLUp+uDLeMrDvtS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607" orient="horz"/>
        <p:guide pos="907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22860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2160880" y="13420305"/>
            <a:ext cx="24478668" cy="9259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319642" y="24480786"/>
            <a:ext cx="20161144" cy="11039316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2880"/>
              </a:spcBef>
              <a:spcAft>
                <a:spcPts val="0"/>
              </a:spcAft>
              <a:buClr>
                <a:schemeClr val="dk1"/>
              </a:buClr>
              <a:buSzPts val="14399"/>
              <a:buFont typeface="Arial"/>
              <a:buNone/>
              <a:defRPr/>
            </a:lvl1pPr>
            <a:lvl2pPr lvl="1" algn="ctr">
              <a:spcBef>
                <a:spcPts val="2533"/>
              </a:spcBef>
              <a:spcAft>
                <a:spcPts val="0"/>
              </a:spcAft>
              <a:buClr>
                <a:schemeClr val="dk1"/>
              </a:buClr>
              <a:buSzPts val="12665"/>
              <a:buFont typeface="Arial"/>
              <a:buNone/>
              <a:defRPr/>
            </a:lvl2pPr>
            <a:lvl3pPr lvl="2" algn="ctr"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10799"/>
              <a:buFont typeface="Arial"/>
              <a:buNone/>
              <a:defRPr/>
            </a:lvl3pPr>
            <a:lvl4pPr lvl="3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4pPr>
            <a:lvl5pPr lvl="4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5pPr>
            <a:lvl6pPr lvl="5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6pPr>
            <a:lvl7pPr lvl="6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7pPr>
            <a:lvl8pPr lvl="7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8pPr>
            <a:lvl9pPr lvl="8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1439175" y="10080573"/>
            <a:ext cx="25922076" cy="2851047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2275166" y="27761258"/>
            <a:ext cx="24480784" cy="8580021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5333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2275166" y="18309267"/>
            <a:ext cx="24480784" cy="9451991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sz="2666"/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/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1439175" y="10080573"/>
            <a:ext cx="12859449" cy="2851047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/>
            </a:lvl2pPr>
            <a:lvl3pPr indent="-397891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14501801" y="10080573"/>
            <a:ext cx="12859449" cy="2851047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/>
            </a:lvl2pPr>
            <a:lvl3pPr indent="-397891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1439175" y="9669985"/>
            <a:ext cx="12726114" cy="4029689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b="1" sz="2666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1439175" y="13699675"/>
            <a:ext cx="12726114" cy="24891372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397891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–"/>
              <a:defRPr sz="2666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14630904" y="9669985"/>
            <a:ext cx="12730346" cy="4029689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b="1" sz="2666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14630904" y="13699675"/>
            <a:ext cx="12730346" cy="24891372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397891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–"/>
              <a:defRPr sz="2666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1439175" y="1720661"/>
            <a:ext cx="9475273" cy="7318627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666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11259425" y="1720662"/>
            <a:ext cx="16101825" cy="3687038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499491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6"/>
              <a:buFont typeface="Arial"/>
              <a:buChar char="•"/>
              <a:defRPr sz="4266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3pPr>
            <a:lvl4pPr indent="-397891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–"/>
              <a:defRPr sz="2666"/>
            </a:lvl4pPr>
            <a:lvl5pPr indent="-397891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5pPr>
            <a:lvl6pPr indent="-397891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6pPr>
            <a:lvl7pPr indent="-397891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7pPr>
            <a:lvl8pPr indent="-397890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8pPr>
            <a:lvl9pPr indent="-397890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1439175" y="9039287"/>
            <a:ext cx="9475273" cy="29551759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5644529" y="30239601"/>
            <a:ext cx="17280678" cy="3570424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666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5644529" y="3860375"/>
            <a:ext cx="17280678" cy="2591996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5644529" y="33810024"/>
            <a:ext cx="17280678" cy="5070974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144977" y="11374771"/>
            <a:ext cx="28510473" cy="25922076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5690032" y="16919828"/>
            <a:ext cx="36861919" cy="6480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7372595" y="10540898"/>
            <a:ext cx="36861919" cy="19238379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1439175" y="10080573"/>
            <a:ext cx="25922076" cy="2851047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1142936" lvl="0" marL="457200" marR="0" rtl="0" algn="l">
              <a:spcBef>
                <a:spcPts val="2880"/>
              </a:spcBef>
              <a:spcAft>
                <a:spcPts val="0"/>
              </a:spcAft>
              <a:buClr>
                <a:schemeClr val="dk1"/>
              </a:buClr>
              <a:buSzPts val="14399"/>
              <a:buFont typeface="Arial"/>
              <a:buChar char="•"/>
              <a:defRPr b="0" i="0" sz="14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32827" lvl="1" marL="914400" marR="0" rtl="0" algn="l">
              <a:spcBef>
                <a:spcPts val="2533"/>
              </a:spcBef>
              <a:spcAft>
                <a:spcPts val="0"/>
              </a:spcAft>
              <a:buClr>
                <a:schemeClr val="dk1"/>
              </a:buClr>
              <a:buSzPts val="12665"/>
              <a:buFont typeface="Arial"/>
              <a:buChar char="–"/>
              <a:defRPr b="0" i="0" sz="126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914336" lvl="2" marL="1371600" marR="0" rtl="0" algn="l"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10799"/>
              <a:buFont typeface="Arial"/>
              <a:buChar char="•"/>
              <a:defRPr b="0" i="0" sz="10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04291" lvl="3" marL="18288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–"/>
              <a:defRPr b="0" i="0" sz="9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04291" lvl="4" marL="22860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04291" lvl="5" marL="27432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04291" lvl="6" marL="32004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04291" lvl="7" marL="36576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04291" lvl="8" marL="41148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3.png"/><Relationship Id="rId11" Type="http://schemas.openxmlformats.org/officeDocument/2006/relationships/image" Target="../media/image9.png"/><Relationship Id="rId10" Type="http://schemas.openxmlformats.org/officeDocument/2006/relationships/image" Target="../media/image5.png"/><Relationship Id="rId21" Type="http://schemas.openxmlformats.org/officeDocument/2006/relationships/image" Target="../media/image6.png"/><Relationship Id="rId13" Type="http://schemas.openxmlformats.org/officeDocument/2006/relationships/image" Target="../media/image10.png"/><Relationship Id="rId1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5" Type="http://schemas.openxmlformats.org/officeDocument/2006/relationships/image" Target="../media/image18.png"/><Relationship Id="rId14" Type="http://schemas.openxmlformats.org/officeDocument/2006/relationships/image" Target="../media/image14.png"/><Relationship Id="rId17" Type="http://schemas.openxmlformats.org/officeDocument/2006/relationships/image" Target="../media/image15.png"/><Relationship Id="rId16" Type="http://schemas.openxmlformats.org/officeDocument/2006/relationships/image" Target="../media/image11.png"/><Relationship Id="rId5" Type="http://schemas.openxmlformats.org/officeDocument/2006/relationships/image" Target="../media/image1.png"/><Relationship Id="rId19" Type="http://schemas.openxmlformats.org/officeDocument/2006/relationships/image" Target="../media/image17.png"/><Relationship Id="rId6" Type="http://schemas.openxmlformats.org/officeDocument/2006/relationships/image" Target="../media/image2.png"/><Relationship Id="rId18" Type="http://schemas.openxmlformats.org/officeDocument/2006/relationships/image" Target="../media/image16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9" y="11219"/>
            <a:ext cx="28774944" cy="4317934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-14097" y="2695568"/>
            <a:ext cx="28800425" cy="661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Eduarda Lopes, Flávio Santos, Jenifer Barreto, Felipe Carvalho Paleari</a:t>
            </a:r>
            <a:endParaRPr b="1" i="0" sz="813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690522" y="4992304"/>
            <a:ext cx="13284900" cy="54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Sobre a equipe</a:t>
            </a:r>
            <a:endParaRPr sz="2700">
              <a:solidFill>
                <a:schemeClr val="dk1"/>
              </a:solidFill>
              <a:highlight>
                <a:srgbClr val="F5F5F5"/>
              </a:highlight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00">
                <a:solidFill>
                  <a:schemeClr val="dk1"/>
                </a:solidFill>
                <a:highlight>
                  <a:srgbClr val="F5F5F5"/>
                </a:highlight>
              </a:rPr>
              <a:t>​</a:t>
            </a:r>
            <a:endParaRPr sz="800">
              <a:solidFill>
                <a:schemeClr val="dk1"/>
              </a:solidFill>
              <a:highlight>
                <a:srgbClr val="F5F5F5"/>
              </a:highlight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highlight>
                  <a:srgbClr val="F5F5F5"/>
                </a:highlight>
              </a:rPr>
              <a:t>Somos uma equipe de estudantes de Ciência da Computação com foco em soluções tecnológicas aplicadas à </a:t>
            </a:r>
            <a:r>
              <a:rPr b="1" lang="pt-BR" sz="2400">
                <a:solidFill>
                  <a:schemeClr val="dk1"/>
                </a:solidFill>
                <a:highlight>
                  <a:srgbClr val="F5F5F5"/>
                </a:highlight>
              </a:rPr>
              <a:t>machine learning e análise de dados</a:t>
            </a:r>
            <a:r>
              <a:rPr lang="pt-BR" sz="2400">
                <a:solidFill>
                  <a:schemeClr val="dk1"/>
                </a:solidFill>
                <a:highlight>
                  <a:srgbClr val="F5F5F5"/>
                </a:highlight>
              </a:rPr>
              <a:t>. Nossa atuação neste projeto foi marcada por colaboração multidisciplinar e aplicação de metodologias ágeis (Kanban), garantindo entregas organizadas e eficazes.​</a:t>
            </a:r>
            <a:endParaRPr sz="2400">
              <a:solidFill>
                <a:schemeClr val="dk1"/>
              </a:solidFill>
              <a:highlight>
                <a:srgbClr val="F5F5F5"/>
              </a:highlight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400">
                <a:solidFill>
                  <a:schemeClr val="dk1"/>
                </a:solidFill>
                <a:highlight>
                  <a:srgbClr val="F5F5F5"/>
                </a:highlight>
              </a:rPr>
              <a:t>Distribuição das responsabilidades:</a:t>
            </a:r>
            <a:r>
              <a:rPr lang="pt-BR" sz="2400">
                <a:solidFill>
                  <a:schemeClr val="dk1"/>
                </a:solidFill>
                <a:highlight>
                  <a:srgbClr val="F5F5F5"/>
                </a:highlight>
              </a:rPr>
              <a:t>​</a:t>
            </a:r>
            <a:endParaRPr sz="2400">
              <a:solidFill>
                <a:schemeClr val="dk1"/>
              </a:solidFill>
              <a:highlight>
                <a:srgbClr val="F5F5F5"/>
              </a:highlight>
            </a:endParaRPr>
          </a:p>
          <a:p>
            <a:pPr indent="-381000" lvl="0" marL="711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lang="pt-BR" sz="2400">
                <a:solidFill>
                  <a:schemeClr val="dk1"/>
                </a:solidFill>
                <a:highlight>
                  <a:srgbClr val="F5F5F5"/>
                </a:highlight>
              </a:rPr>
              <a:t>Flávio Santos</a:t>
            </a:r>
            <a:r>
              <a:rPr lang="pt-BR" sz="2400">
                <a:solidFill>
                  <a:schemeClr val="dk1"/>
                </a:solidFill>
                <a:highlight>
                  <a:srgbClr val="F5F5F5"/>
                </a:highlight>
              </a:rPr>
              <a:t> lideraram o desenvolvimento da interface e visualizações interativas com Streamlit.​</a:t>
            </a:r>
            <a:endParaRPr sz="2400">
              <a:solidFill>
                <a:schemeClr val="dk1"/>
              </a:solidFill>
              <a:highlight>
                <a:srgbClr val="F5F5F5"/>
              </a:highlight>
            </a:endParaRPr>
          </a:p>
          <a:p>
            <a:pPr indent="-381000" lvl="0" marL="711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lang="pt-BR" sz="2400">
                <a:solidFill>
                  <a:schemeClr val="dk1"/>
                </a:solidFill>
                <a:highlight>
                  <a:srgbClr val="F5F5F5"/>
                </a:highlight>
              </a:rPr>
              <a:t>Felipe Paleari</a:t>
            </a:r>
            <a:r>
              <a:rPr lang="pt-BR" sz="2400">
                <a:solidFill>
                  <a:schemeClr val="dk1"/>
                </a:solidFill>
                <a:highlight>
                  <a:srgbClr val="F5F5F5"/>
                </a:highlight>
              </a:rPr>
              <a:t> e </a:t>
            </a:r>
            <a:r>
              <a:rPr b="1" lang="pt-BR" sz="2400">
                <a:solidFill>
                  <a:schemeClr val="dk1"/>
                </a:solidFill>
                <a:highlight>
                  <a:srgbClr val="F5F5F5"/>
                </a:highlight>
              </a:rPr>
              <a:t>Eduarda Lopes</a:t>
            </a:r>
            <a:r>
              <a:rPr lang="pt-BR" sz="2400">
                <a:solidFill>
                  <a:schemeClr val="dk1"/>
                </a:solidFill>
                <a:highlight>
                  <a:srgbClr val="F5F5F5"/>
                </a:highlight>
              </a:rPr>
              <a:t> trabalharam na aplicação de modelos de macjine learning.</a:t>
            </a:r>
            <a:endParaRPr sz="2400">
              <a:solidFill>
                <a:schemeClr val="dk1"/>
              </a:solidFill>
              <a:highlight>
                <a:srgbClr val="F5F5F5"/>
              </a:highlight>
            </a:endParaRPr>
          </a:p>
          <a:p>
            <a:pPr indent="-381000" lvl="0" marL="711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lang="pt-BR" sz="2400">
                <a:solidFill>
                  <a:schemeClr val="dk1"/>
                </a:solidFill>
                <a:highlight>
                  <a:srgbClr val="F5F5F5"/>
                </a:highlight>
              </a:rPr>
              <a:t>Jenifer Barreto</a:t>
            </a:r>
            <a:r>
              <a:rPr lang="pt-BR" sz="2400">
                <a:solidFill>
                  <a:schemeClr val="dk1"/>
                </a:solidFill>
                <a:highlight>
                  <a:srgbClr val="F5F5F5"/>
                </a:highlight>
              </a:rPr>
              <a:t> foi responsável por rodar tecnicas de redução de dimensionalidade e simulação de dados reais.​</a:t>
            </a:r>
            <a:endParaRPr b="0" i="0" sz="266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0" y="-669350"/>
            <a:ext cx="184731" cy="1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99"/>
              <a:buFont typeface="Arial"/>
              <a:buNone/>
            </a:pPr>
            <a:r>
              <a:t/>
            </a:r>
            <a:endParaRPr b="0" i="0" sz="809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>
            <p:ph type="ctrTitle"/>
          </p:nvPr>
        </p:nvSpPr>
        <p:spPr>
          <a:xfrm>
            <a:off x="533295" y="1091039"/>
            <a:ext cx="27924315" cy="2258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850"/>
              <a:t>Cannoli 360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1540883" y="288300"/>
            <a:ext cx="25809904" cy="1619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9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Semana de Tecnologia FECAP 2025</a:t>
            </a:r>
            <a:endParaRPr b="1" i="0" sz="79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4653154" y="4992305"/>
            <a:ext cx="13284900" cy="55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Problema a ser tratado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400">
                <a:solidFill>
                  <a:schemeClr val="dk1"/>
                </a:solidFill>
              </a:rPr>
              <a:t>O setor de Food Service opera sob margens extremamente estreitas, onde a gestão ineficiente de descontos e a falta de segmentação estratégica de clientes provocam uma erosão significativa da lucratividade.</a:t>
            </a:r>
            <a:endParaRPr i="0" sz="2400" u="none" cap="none" strike="noStrike">
              <a:solidFill>
                <a:schemeClr val="dk1"/>
              </a:solidFill>
            </a:endParaRPr>
          </a:p>
          <a:p>
            <a:pPr indent="-27940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AutoNum type="arabicPeriod"/>
            </a:pPr>
            <a:r>
              <a:rPr b="1" i="0" lang="pt-BR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Ineficiência Promocional: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Aplicação de desconto</a:t>
            </a:r>
            <a:r>
              <a:rPr i="0" lang="pt-BR" sz="2400" u="none" cap="none" strike="noStrike">
                <a:solidFill>
                  <a:schemeClr val="dk1"/>
                </a:solidFill>
              </a:rPr>
              <a:t>s generalizados ou baseados em "chute", que frequentemente canibalizam a margem em clientes que já </a:t>
            </a:r>
            <a:r>
              <a:rPr lang="pt-BR" sz="2400">
                <a:solidFill>
                  <a:schemeClr val="dk1"/>
                </a:solidFill>
              </a:rPr>
              <a:t>realizaram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compra pelo preço integral, ou falham em engajar clientes inativos.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</a:rPr>
              <a:t>Impacto direto:</a:t>
            </a:r>
            <a:r>
              <a:rPr lang="pt-BR" sz="2400">
                <a:solidFill>
                  <a:schemeClr val="dk1"/>
                </a:solidFill>
              </a:rPr>
              <a:t> Perda de receita e redução da margem de contribuição.</a:t>
            </a:r>
            <a:endParaRPr sz="2400">
              <a:solidFill>
                <a:schemeClr val="dk1"/>
              </a:solidFill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Segmentação Superficial: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Uso de métricas básicas como (RFM) que não ca</a:t>
            </a:r>
            <a:r>
              <a:rPr i="0" lang="pt-BR" sz="2400" u="none" cap="none" strike="noStrike">
                <a:solidFill>
                  <a:schemeClr val="dk1"/>
                </a:solidFill>
              </a:rPr>
              <a:t>pturam a propensão de compra ou a sensibilidade ao preço do consumidor. Isso gera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gastos de marketing ineficientes e baixa taxa de conversão em campanhas personalizadas.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b="1" lang="pt-BR" sz="2400">
                <a:solidFill>
                  <a:schemeClr val="dk1"/>
                </a:solidFill>
              </a:rPr>
              <a:t>Impacto direto: </a:t>
            </a:r>
            <a:r>
              <a:rPr lang="pt-BR" sz="2400">
                <a:solidFill>
                  <a:schemeClr val="dk1"/>
                </a:solidFill>
              </a:rPr>
              <a:t>Campanhas pouco eficazes, gastos de marketing ineficientes e baixa conversão.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630353" y="33543418"/>
            <a:ext cx="13318800" cy="6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Solução proposta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 Cannoli 360 propõe uma solução de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Análise Preditiva e Prescritiva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transforma o volume de dados transacionais (R$100.000 + transações) em inteligência de negócios acionável, garantindo a maximização do lucro líquido dos restaurantes.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Margem Máxima</a:t>
            </a:r>
            <a:b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0" lang="pt-BR" sz="2400" u="none" cap="none" strike="noStrike">
                <a:solidFill>
                  <a:schemeClr val="dk1"/>
                </a:solidFill>
              </a:rPr>
              <a:t>Machine Learning identifica o Desconto Mínimo Eficaz (DME), induzindo a compra com o menor corte de preço</a:t>
            </a:r>
            <a:r>
              <a:rPr lang="pt-BR" sz="2400">
                <a:solidFill>
                  <a:schemeClr val="dk1"/>
                </a:solidFill>
              </a:rPr>
              <a:t>,</a:t>
            </a:r>
            <a:r>
              <a:rPr i="0" lang="pt-BR" sz="2400" u="none" cap="none" strike="noStrike">
                <a:solidFill>
                  <a:schemeClr val="dk1"/>
                </a:solidFill>
              </a:rPr>
              <a:t> mais lucro e proteção da margem.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Marketing com Alto ROI</a:t>
            </a:r>
            <a:b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0" lang="pt-BR" sz="2400" u="none" cap="none" strike="noStrike">
                <a:solidFill>
                  <a:schemeClr val="dk1"/>
                </a:solidFill>
              </a:rPr>
              <a:t>Com Segmentação Preditiva (ML), identificamos clientes VIP e em risco de churn, direcionando ações no WhatsApp apenas para quem tem maior chance de conversão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Automação Inteligente</a:t>
            </a:r>
            <a:b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0" lang="pt-BR" sz="2400" u="none" cap="none" strike="noStrike">
                <a:solidFill>
                  <a:schemeClr val="dk1"/>
                </a:solidFill>
              </a:rPr>
              <a:t>A IA gera ofertas automáticas e personalizadas, disparadas no momento ideal (como em períodos de baixa demanda) — mais vendas, menos esforço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2740" y="3056747"/>
            <a:ext cx="29592614" cy="1355109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Professores: Victor Bruno Alexander Rosetti de Quiroz, Rodrigo da Rosa, Renata Muniz, Marcos Minoru Nakatsugawa, Rafael Diogo Rossetti</a:t>
            </a:r>
            <a:endParaRPr b="1" i="0" sz="5866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4646784" y="33543418"/>
            <a:ext cx="13318800" cy="6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Futuro do projeto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evolução contínua da Plataforma Cannoli visa solidificar a posição do cliente no mercado através da antecipação de cenários e da automação de decisões estratégicas.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Previsão de Demanda (Avançada):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Integração de variáveis externas (clima, eventos sazonais, feriados) nos modelos preditivos para estimar o volume de pedidos diários/horários.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874" lvl="1" marL="894714" marR="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Benefício: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Otimização </a:t>
            </a:r>
            <a:r>
              <a:rPr b="0" i="1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just-in-time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b="0" i="1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staff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cozinha/entrega e redução drástica do desperdício de estoque.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Next Best Offer (Sugestão de Produto):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Desenvolvimento de um sistema de recomendação personalizado que sugere o próximo item mais provável que o cliente irá comprar, visando aumentar o </a:t>
            </a:r>
            <a:r>
              <a:rPr i="0" lang="pt-BR" sz="2400" u="none" cap="none" strike="noStrike">
                <a:solidFill>
                  <a:schemeClr val="dk1"/>
                </a:solidFill>
              </a:rPr>
              <a:t>Ticket Médio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transação.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Dashboard de Impacto: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Refinamento da visualização de dados (utilizando as bases de t-SNE) para transformar dados complexos em </a:t>
            </a:r>
            <a:r>
              <a:rPr b="0" i="1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insights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gestão que demonstrem o </a:t>
            </a:r>
            <a:r>
              <a:rPr i="0" lang="pt-BR" sz="2400" u="none" cap="none" strike="noStrike">
                <a:solidFill>
                  <a:schemeClr val="dk1"/>
                </a:solidFill>
              </a:rPr>
              <a:t>lucro marginal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gerado pela IA.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7959431" y="10343748"/>
            <a:ext cx="128688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Imagens e ferramentas do Projeto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6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pic>
        <p:nvPicPr>
          <p:cNvPr descr="Uma imagem contendo óculos&#10;&#10;O conteúdo gerado por IA pode estar incorreto.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752" y="40356014"/>
            <a:ext cx="3095947" cy="31152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óculos, caneca&#10;&#10;O conteúdo gerado por IA pode estar incorreto.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801752" y="40382747"/>
            <a:ext cx="3095945" cy="3105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O conteúdo gerado por IA pode estar incorreto.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105013" y="14849820"/>
            <a:ext cx="2651482" cy="1369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, Ícone&#10;&#10;O conteúdo gerado por IA pode estar incorreto." id="103" name="Google Shape;103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44212" y="12132055"/>
            <a:ext cx="2390002" cy="23900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O conteúdo gerado por IA pode estar incorreto." id="104" name="Google Shape;10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880907" y="12129459"/>
            <a:ext cx="1678276" cy="2369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O conteúdo gerado por IA pode estar incorreto." id="105" name="Google Shape;105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771665" y="15013861"/>
            <a:ext cx="1969985" cy="19699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Ícone&#10;&#10;O conteúdo gerado por IA pode estar incorreto." id="106" name="Google Shape;106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064218" y="12612493"/>
            <a:ext cx="2252785" cy="1689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O conteúdo gerado por IA pode estar incorreto." id="107" name="Google Shape;107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3861617" y="15214435"/>
            <a:ext cx="1567253" cy="1567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O conteúdo gerado por IA pode estar incorreto." id="108" name="Google Shape;108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0329692" y="14982549"/>
            <a:ext cx="2090947" cy="20909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O conteúdo gerado por IA pode estar incorreto." id="109" name="Google Shape;109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3136857" y="12573596"/>
            <a:ext cx="1957103" cy="1957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848209" y="17121106"/>
            <a:ext cx="18636799" cy="7901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la de celular com fundo preto&#10;&#10;O conteúdo gerado por IA pode estar incorreto." id="111" name="Google Shape;111;p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450782" y="11726349"/>
            <a:ext cx="4301427" cy="70470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la de um aparelho celular&#10;&#10;O conteúdo gerado por IA pode estar incorreto." id="112" name="Google Shape;112;p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277788" y="11834448"/>
            <a:ext cx="3697396" cy="66992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ce gráfica do usuário, Texto, Aplicativo&#10;&#10;O conteúdo gerado por IA pode estar incorreto." id="113" name="Google Shape;113;p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255985" y="26210105"/>
            <a:ext cx="3809152" cy="7042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ce gráfica do usuário, Aplicativo&#10;&#10;O conteúdo gerado por IA pode estar incorreto." id="114" name="Google Shape;114;p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713705" y="18847117"/>
            <a:ext cx="3603020" cy="7132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ce gráfica do usuário&#10;&#10;O conteúdo gerado por IA pode estar incorreto." id="115" name="Google Shape;115;p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636510" y="26208324"/>
            <a:ext cx="3731699" cy="71570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ce gráfica do usuário, Aplicativo&#10;&#10;O conteúdo gerado por IA pode estar incorreto." id="116" name="Google Shape;116;p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2378291" y="18782618"/>
            <a:ext cx="3596893" cy="7101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3073293" y="25524105"/>
            <a:ext cx="13981847" cy="7485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2006-11-04T15:46:42Z</dcterms:created>
  <dc:creator>Jr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0x010100C7353F4359BE7B4FBCD8FEE2AE3A1FA8</vt:lpwstr>
  </property>
</Properties>
</file>