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AfZcI6HTKJtHQZG8Yg1DR5J1N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7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160880" y="13420305"/>
            <a:ext cx="24478668" cy="9259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319642" y="24480786"/>
            <a:ext cx="20161144" cy="1103931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None/>
              <a:defRPr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275166" y="27761258"/>
            <a:ext cx="24480784" cy="85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333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75166" y="18309267"/>
            <a:ext cx="24480784" cy="9451991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439175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4501801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39175" y="9669985"/>
            <a:ext cx="12726114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439175" y="13699675"/>
            <a:ext cx="12726114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4630904" y="9669985"/>
            <a:ext cx="12730346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4630904" y="13699675"/>
            <a:ext cx="12730346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439175" y="1720661"/>
            <a:ext cx="9475273" cy="7318627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1259425" y="1720662"/>
            <a:ext cx="16101825" cy="3687038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99491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3pPr>
            <a:lvl4pPr indent="-397891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indent="-397891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indent="-397891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indent="-397891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indent="-397890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indent="-397890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439175" y="9039287"/>
            <a:ext cx="9475273" cy="295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644529" y="30239601"/>
            <a:ext cx="17280678" cy="3570424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644529" y="3860375"/>
            <a:ext cx="17280678" cy="259199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644529" y="33810024"/>
            <a:ext cx="17280678" cy="5070974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44977" y="11374771"/>
            <a:ext cx="28510473" cy="2592207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690032" y="16919828"/>
            <a:ext cx="36861919" cy="64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7372595" y="10540898"/>
            <a:ext cx="36861919" cy="1923837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1142936" lvl="0" marL="457200" marR="0" rtl="0" algn="l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Char char="•"/>
              <a:defRPr b="0" i="0" sz="1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32827" lvl="1" marL="914400" marR="0" rtl="0" algn="l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b="0" i="0" sz="126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14336" lvl="2" marL="1371600" marR="0" rtl="0" algn="l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b="0" i="0" sz="10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4291" lvl="3" marL="1828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4291" lvl="4" marL="22860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4291" lvl="5" marL="27432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4291" lvl="6" marL="32004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4291" lvl="7" marL="36576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4291" lvl="8" marL="4114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3" Type="http://schemas.openxmlformats.org/officeDocument/2006/relationships/image" Target="../media/image11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14" Type="http://schemas.openxmlformats.org/officeDocument/2006/relationships/image" Target="../media/image9.jp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58" y="10644"/>
            <a:ext cx="28774945" cy="431793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14097" y="2695568"/>
            <a:ext cx="28800425" cy="66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Eduarda Lopes, Flávio Santos, Jenifer Barreto, Felipe Carvalho Paleari</a:t>
            </a:r>
            <a:endParaRPr b="1" i="0" sz="81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90522" y="4992304"/>
            <a:ext cx="13284900" cy="5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sz="27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highlight>
                  <a:srgbClr val="F5F5F5"/>
                </a:highlight>
              </a:rPr>
              <a:t>​</a:t>
            </a:r>
            <a:endParaRPr sz="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Somos uma equipe de estudantes de Ciência da Computação com foco em soluções tecnológicas aplicadas à </a:t>
            </a: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machine learning e análise de dados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. Nossa atuação neste projeto foi marcada por colaboração multidisciplinar e aplicação de metodologias ágeis (Kanban), garantindo entregas organizadas e eficazes.​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Distribuição das responsabilidades: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​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381000" lvl="0" marL="711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Flávio Santos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lideraram o desenvolvimento da interface e visualizações interativas com Streamlit.​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381000" lvl="0" marL="711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Felipe Paleari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e </a:t>
            </a: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Eduarda Lopes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trabalharam na aplicação de modelos de macjine learning.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381000" lvl="0" marL="711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Jenifer Barreto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foi responsável por rodar tecnicas de redução de dimensionalidade e simulação de dados reais.​</a:t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r>
              <a:t/>
            </a:r>
            <a:endParaRPr b="0" i="0" sz="80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533295" y="1091039"/>
            <a:ext cx="27924315" cy="2258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50"/>
              <a:t>Cannoli 360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540883" y="288300"/>
            <a:ext cx="25809904" cy="1619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9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 b="1" i="0" sz="79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4653154" y="4992305"/>
            <a:ext cx="13284900" cy="55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chemeClr val="dk1"/>
                </a:solidFill>
              </a:rPr>
              <a:t>O setor de Food Service opera sob margens extremamente estreitas, onde a gestão ineficiente de descontos e a falta de segmentação estratégica de clientes provocam uma erosão significativa da lucratividade.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-27940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Ineficiência Promocional: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Aplicação de desconto</a:t>
            </a:r>
            <a:r>
              <a:rPr i="0" lang="pt-BR" sz="2400" u="none" cap="none" strike="noStrike">
                <a:solidFill>
                  <a:schemeClr val="dk1"/>
                </a:solidFill>
              </a:rPr>
              <a:t>s generalizados ou baseados em "chute", que frequentemente canibalizam a margem em clientes que já </a:t>
            </a:r>
            <a:r>
              <a:rPr lang="pt-BR" sz="2400">
                <a:solidFill>
                  <a:schemeClr val="dk1"/>
                </a:solidFill>
              </a:rPr>
              <a:t>realizaram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compra pelo preço integral, ou falham em engajar clientes inativos.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Impacto direto:</a:t>
            </a:r>
            <a:r>
              <a:rPr lang="pt-BR" sz="2400">
                <a:solidFill>
                  <a:schemeClr val="dk1"/>
                </a:solidFill>
              </a:rPr>
              <a:t> Perda de receita e redução da margem de contribuição.</a:t>
            </a:r>
            <a:endParaRPr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Segmentação Superficial: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 de métricas básicas como (RFM) que não ca</a:t>
            </a:r>
            <a:r>
              <a:rPr i="0" lang="pt-BR" sz="2400" u="none" cap="none" strike="noStrike">
                <a:solidFill>
                  <a:schemeClr val="dk1"/>
                </a:solidFill>
              </a:rPr>
              <a:t>pturam a propensão de compra ou a sensibilidade ao preço do consumidor. Isso gera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gastos de marketing ineficientes e baixa taxa de conversão em campanhas personalizadas.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Impacto direto: </a:t>
            </a:r>
            <a:r>
              <a:rPr lang="pt-BR" sz="2400">
                <a:solidFill>
                  <a:schemeClr val="dk1"/>
                </a:solidFill>
              </a:rPr>
              <a:t>Campanhas pouco eficazes, gastos de marketing ineficientes e baixa conversão.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30353" y="33543418"/>
            <a:ext cx="133188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 Cannoli 360 propõe uma solução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Preditiva e Prescritiva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transforma o volume de dados transacionais (R$100.000 + transações) em inteligência de negócios acionável, garantindo a maximização do lucro líquido dos restaurantes.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Margem Máxima</a:t>
            </a:r>
            <a:b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Machine Learning identifica o Desconto Mínimo Eficaz (DME), induzindo a compra com o menor corte de preço</a:t>
            </a:r>
            <a:r>
              <a:rPr lang="pt-BR" sz="2400">
                <a:solidFill>
                  <a:schemeClr val="dk1"/>
                </a:solidFill>
              </a:rPr>
              <a:t>,</a:t>
            </a:r>
            <a:r>
              <a:rPr i="0" lang="pt-BR" sz="2400" u="none" cap="none" strike="noStrike">
                <a:solidFill>
                  <a:schemeClr val="dk1"/>
                </a:solidFill>
              </a:rPr>
              <a:t> mais lucro e proteção da margem.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Marketing com Alto ROI</a:t>
            </a:r>
            <a:b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Com Segmentação Preditiva (ML), identificamos clientes VIP e em risco de churn, direcionando ações no WhatsApp apenas para quem tem maior chance de conversão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Automação Inteligente</a:t>
            </a:r>
            <a:b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A IA gera ofertas automáticas e personalizadas, disparadas no momento ideal (como em períodos de baixa demanda) — mais vendas, menos esforço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740" y="3056747"/>
            <a:ext cx="29592614" cy="13551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Victor Bruno Alexander Rosetti de Quiroz, Rodrigo da Rosa, Renata Muniz, Marcos Minoru Nakatsugawa, Rafael Diogo Rossetti</a:t>
            </a:r>
            <a:endParaRPr b="1" i="0" sz="5866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646784" y="33543418"/>
            <a:ext cx="13318800" cy="6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evolução contínua da Plataforma Cannoli visa solidificar a posição do cliente no mercado através da antecipação de cenários e da automação de decisões estratégicas.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Previsão de Demanda (Avançada):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Integração de variáveis externas (clima, eventos sazonais, feriados) nos modelos preditivos para estimar o volume de pedidos diários/horários.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4" lvl="1" marL="894714" marR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Benefício: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Otimização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just-in-time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cozinha/entrega e redução drástica do desperdício de estoque.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Next Best Offer (Sugestão de Produto):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Desenvolvimento de um sistema de recomendação personalizado que sugere o próximo item mais provável que o cliente irá comprar, visando aumentar o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Ticket Médio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transação.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Dashboard de Impacto: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Refinamento da visualização de dados (utilizando as bases de t-SNE) para transformar dados complexos em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gestão que demonstrem o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lucro marginal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gerado pela IA.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óculos&#10;&#10;O conteúdo gerado por IA pode estar incorreto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2" y="40356014"/>
            <a:ext cx="3095947" cy="3115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01752" y="40382747"/>
            <a:ext cx="3095945" cy="310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 title="streamlit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175" y="18535450"/>
            <a:ext cx="3277350" cy="177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 title="vscod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55625" y="18848275"/>
            <a:ext cx="1153198" cy="1153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title="excel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87875" y="18640087"/>
            <a:ext cx="1569600" cy="15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title="scikit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753160" y="18640075"/>
            <a:ext cx="2687240" cy="15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title="python--v2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084725" y="18640087"/>
            <a:ext cx="1569600" cy="15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 title="numpy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654187" y="18713750"/>
            <a:ext cx="4301426" cy="142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3025" y="21411287"/>
            <a:ext cx="13499902" cy="75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663725" y="21358975"/>
            <a:ext cx="13284901" cy="759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39325" y="12477087"/>
            <a:ext cx="12462526" cy="40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0x010100C7353F4359BE7B4FBCD8FEE2AE3A1FA8</vt:lpwstr>
  </property>
</Properties>
</file>